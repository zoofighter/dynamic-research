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164592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ENTERPRISE AI PROPOSAL  |  자율 리서치 &amp; 인텔리전스 자동화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4000" b="1">
                <a:solidFill>
                  <a:srgbClr val="FFFFFF"/>
                </a:solidFill>
              </a:defRPr>
            </a:pPr>
            <a:r>
              <a:t>차세대 자율 심층 리서치</a:t>
            </a:r>
            <a:br/>
            <a:r>
              <a:t>AI 플랫폼 구축 제안서</a:t>
            </a:r>
          </a:p>
          <a:p>
            <a:pPr>
              <a:spcBef>
                <a:spcPts val="1200"/>
              </a:spcBef>
              <a:defRPr sz="2000">
                <a:solidFill>
                  <a:srgbClr val="CBD5E1"/>
                </a:solidFill>
              </a:defRPr>
            </a:pPr>
            <a:r>
              <a:t>Dynamic Live Search (DLS) &amp; Human-in-the-Loop 기반 고신뢰성 의사결정 인텔리전스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297680"/>
            <a:ext cx="996696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30000"/>
              </a:lnSpc>
              <a:defRPr sz="1500">
                <a:solidFill>
                  <a:srgbClr val="E2E8F0"/>
                </a:solidFill>
              </a:defRPr>
            </a:pPr>
            <a:r>
              <a:t>“사전 벡터 DB 구축 없이 초 단위 실시간 웹을 자율 탐색·검증하여,</a:t>
            </a:r>
            <a:br/>
            <a:r>
              <a:t>단 1회 리서치로 경영진 1-Pager부터 기술 심층서까지 4대 맞춤형 보고서를 자동 완성합니다.”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76072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제안 과제: Dynamic Research (c_1003)   |   제안 일시: 2026년 10월   |   버전: v1.0   |   대상: 전략기획실 · R&amp;D 센터 · 의사결정권자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차세대 자율 심층 리서치 AI 플랫폼 구축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추진 배경 및 현업 리서치의 3대 페인포인트 (Pain Points)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Dynamic Research AI Platform Proposal  |  Confidential  |  2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F4444"/>
                </a:solidFill>
              </a:defRPr>
            </a:pPr>
            <a:r>
              <a:t>PAIN POINT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28712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293B"/>
                </a:solidFill>
              </a:defRPr>
            </a:pPr>
            <a:r>
              <a:t>사전 임베딩(RAG)의 시점 한계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어제의 데이터로는 오늘의 시장을 진단 불가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54680"/>
            <a:ext cx="287121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150">
                <a:solidFill>
                  <a:srgbClr val="1E293B"/>
                </a:solidFill>
              </a:defRPr>
            </a:pPr>
            <a:r>
              <a:t>• 기존 RAG는 벡터 DB 구축, 청킹, 임베딩 파이프라인 지연 발생</a:t>
            </a:r>
          </a:p>
          <a:p>
            <a:pPr>
              <a:lnSpc>
                <a:spcPct val="135000"/>
              </a:lnSpc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매일 급변하는 엔비디아·삼성·SK하이닉스 수율/일정/공시 반영 실패</a:t>
            </a:r>
          </a:p>
          <a:p>
            <a:pPr>
              <a:lnSpc>
                <a:spcPct val="135000"/>
              </a:lnSpc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폐쇄된 지식 창고에 갇혀 '지금 이 순간'의 라이브 웹 원문 활용 불가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73736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PAIN POINT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03120"/>
            <a:ext cx="28712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293B"/>
                </a:solidFill>
              </a:defRPr>
            </a:pPr>
            <a:r>
              <a:t>맹목적 전면 자동화의 실패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의도와 관점이 배제된 쓸모없는 리포트 양산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154680"/>
            <a:ext cx="287121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150">
                <a:solidFill>
                  <a:srgbClr val="1E293B"/>
                </a:solidFill>
              </a:defRPr>
            </a:pPr>
            <a:r>
              <a:t>• AI 혼자 생성한 리포트는 비즈니스 의도와 다른 방향으로 일방 출력</a:t>
            </a:r>
          </a:p>
          <a:p>
            <a:pPr>
              <a:lnSpc>
                <a:spcPct val="135000"/>
              </a:lnSpc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목차(Outline) 기획 단계에서 방향타를 잡지 못하면 수백 건 검색도 무용</a:t>
            </a:r>
          </a:p>
          <a:p>
            <a:pPr>
              <a:lnSpc>
                <a:spcPct val="135000"/>
              </a:lnSpc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경영진이 원하는 핵심 질문(Angle)을 주입할 HITL 거버넌스 부재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73736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PAIN POINT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03120"/>
            <a:ext cx="28712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293B"/>
                </a:solidFill>
              </a:defRPr>
            </a:pPr>
            <a:r>
              <a:t>출처 불투명성 &amp; 환각(Hallucination)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검증할 수 없는 AI 주장은 의사결정 리스크 초래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154680"/>
            <a:ext cx="287121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150">
                <a:solidFill>
                  <a:srgbClr val="1E293B"/>
                </a:solidFill>
              </a:defRPr>
            </a:pPr>
            <a:r>
              <a:t>• 인터넷 블로그 요약문은 출처 원문 URL과 대조 검증이 원천 불가</a:t>
            </a:r>
          </a:p>
          <a:p>
            <a:pPr>
              <a:lnSpc>
                <a:spcPct val="135000"/>
              </a:lnSpc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확인된 팩트(Fact)와 AI 주관적 해석(Analysis)이 뒤섞여 혼란 유발</a:t>
            </a:r>
          </a:p>
          <a:p>
            <a:pPr>
              <a:lnSpc>
                <a:spcPct val="135000"/>
              </a:lnSpc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미확인 루머나 과장 보도를 걸러낼 상충 검증 프로세스 결여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차세대 자율 심층 리서치 AI 플랫폼 구축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사업 목표 및 기대 효과 (Quantitative &amp; Qualitative ROI)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Dynamic Research AI Platform Proposal  |  Confidential  |  3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2841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29626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95% ↓</a:t>
            </a:r>
          </a:p>
          <a:p>
            <a:pPr>
              <a:spcBef>
                <a:spcPts val="400"/>
              </a:spcBef>
              <a:defRPr sz="1400" b="1">
                <a:solidFill>
                  <a:srgbClr val="1E293B"/>
                </a:solidFill>
              </a:defRPr>
            </a:pPr>
            <a:r>
              <a:t>리서치 리드타임 획기적 단축</a:t>
            </a:r>
          </a:p>
          <a:p>
            <a:pPr>
              <a:lnSpc>
                <a:spcPct val="125000"/>
              </a:lnSpc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기존 3일(72시간) 소요되던 자료 조사·분석·보고서 작성을 단 10분 만에 완전 자동화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32841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00200"/>
            <a:ext cx="29626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0원</a:t>
            </a:r>
          </a:p>
          <a:p>
            <a:pPr>
              <a:spcBef>
                <a:spcPts val="400"/>
              </a:spcBef>
              <a:defRPr sz="1400" b="1">
                <a:solidFill>
                  <a:srgbClr val="1E293B"/>
                </a:solidFill>
              </a:defRPr>
            </a:pPr>
            <a:r>
              <a:t>토큰 비용 0원화 (무과금 모델 탑재)</a:t>
            </a:r>
          </a:p>
          <a:p>
            <a:pPr>
              <a:lnSpc>
                <a:spcPct val="125000"/>
              </a:lnSpc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OpenCode Meta Muse Spark 무료 LLM 통합 및 스마트 디스크 캐싱으로 API 비용 제로 달성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08760"/>
            <a:ext cx="332841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00200"/>
            <a:ext cx="29626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100%</a:t>
            </a:r>
          </a:p>
          <a:p>
            <a:pPr>
              <a:spcBef>
                <a:spcPts val="400"/>
              </a:spcBef>
              <a:defRPr sz="1400" b="1">
                <a:solidFill>
                  <a:srgbClr val="1E293B"/>
                </a:solidFill>
              </a:defRPr>
            </a:pPr>
            <a:r>
              <a:t>근거 투명성 (1:1 인라인 각주)</a:t>
            </a:r>
          </a:p>
          <a:p>
            <a:pPr>
              <a:lnSpc>
                <a:spcPct val="125000"/>
              </a:lnSpc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모든 문장에 원문 기사 인라인 각주([^1]) 강제 매핑 및 미확인 주장 검증표 완벽 분리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5120640" cy="242316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931919"/>
            <a:ext cx="46634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기존 방식 (As-Is): 수작업 검색 &amp; 폐쇄형 RAG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리서처가 구글·포털 일일이 검색 후 메모장에 수작업 복사·붙여넣기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RAG 벡터 DB 구축 시 데이터 전처리·임베딩 파이프라인 막대한 운영 비용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결과물이 단일 텍스트로만 나와 임원 보고용 요약본을 별도로 다시 재작성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AI의 그럴듯한 거짓말(Hallucination) 검증을 위해 사람이 기사를 다시 찾아보는 역설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9535" y="3749039"/>
            <a:ext cx="5120640" cy="242316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8135" y="3931919"/>
            <a:ext cx="46634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플랫폼 도입 후 (To-Be): Dynamic Research AI 플랫폼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실시간 뉴스 스캔으로 오늘자 핫 토픽 추천 및 다각도 목차 A/B/C/D 즉시 생성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제로 벡터 DB: 사전 인덱싱 없이 1초 100건 실시간 뉴스 원문 파싱 및 심층 합성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단 1회 리서치로 '경영진 1-Pager + 기술보고서 + 경쟁사 표 + 리스크 실사' 동시 산출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원문 URL 1:1 매핑 각주와 출처 보증으로 C-Level 직보 가능한 최고 신뢰도 확보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차세대 자율 심층 리서치 AI 플랫폼 구축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핵심 솔루션: 왜 Dynamic Live Search (DLS)인가?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Dynamic Research AI Platform Proposal  |  Confidential  |  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※ 고정된 벡터 데이터베이스의 굴레를 벗어나 개방형 웹(Open Web)을 자율 탐색하는 새로운 패러다임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332841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1세대: RAG (전통적 방식)</a:t>
            </a:r>
          </a:p>
          <a:p>
            <a:pPr>
              <a:spcBef>
                <a:spcPts val="300"/>
              </a:spcBef>
              <a:defRPr sz="1600" b="1">
                <a:solidFill>
                  <a:srgbClr val="1E293B"/>
                </a:solidFill>
              </a:defRPr>
            </a:pPr>
            <a:r>
              <a:t>사전 임베딩 지식베이스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과거 데이터에 갇힌 정적 창고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[데이터 소스] 사내 PDF, 위키 등 사전 저장 문서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[시점성] 임베딩 시점 이전 데이터만 조회 가능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[인프라 비용] Chunking, Vector DB, 임베딩 유지비 과다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[한계] 매일 발생하는 최신 뉴스·공시·수율 대응 불가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[적합 영역] 사내 규정집, 불변 매뉴얼 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20240"/>
            <a:ext cx="332841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2세대: Agentic RAG</a:t>
            </a:r>
          </a:p>
          <a:p>
            <a:pPr>
              <a:spcBef>
                <a:spcPts val="300"/>
              </a:spcBef>
              <a:defRPr sz="1600" b="1">
                <a:solidFill>
                  <a:srgbClr val="1E293B"/>
                </a:solidFill>
              </a:defRPr>
            </a:pPr>
            <a:r>
              <a:t>에이전트 라우팅 RAG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복합 질의 처리하나 사전 DB 종속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[데이터 소스] 복수 벡터 DB + 웹 검색 도구 혼용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[시점성] 일부 검색 도구 연동하나 캐시 종속적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[인프라 비용] 복잡한 LangChain 체인 및 API 비용 증가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[한계] 웹 검색 결과가 파편화되어 심층 분석 결여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[적합 영역] 복잡한 사내 엔터프라이즈 사내 지식 검색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920240"/>
            <a:ext cx="3328416" cy="429768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0312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3세대: Dynamic Live Search (본 제안)</a:t>
            </a:r>
          </a:p>
          <a:p>
            <a:pPr>
              <a:spcBef>
                <a:spcPts val="300"/>
              </a:spcBef>
              <a:defRPr sz="1600" b="1">
                <a:solidFill>
                  <a:srgbClr val="1E293B"/>
                </a:solidFill>
              </a:defRPr>
            </a:pPr>
            <a:r>
              <a:t>자율 심층 라이브 리서치 (DLS)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Zero Pre-indexing 실시간 개방형 탐색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[데이터 소스] 100% 실시간 뉴스 RSS + 개방형 라이브 웹 원문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[시점성] 검색 시점의 초 단위 최신 데이터 직접 반영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[인프라 비용] Vector DB 불필요, OpenCode 무료 LLM 탑재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[혁신성] 질문 분해 ➔ 듀얼 수집 ➔ 반성(Reflection) ➔ 4종 번들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[적합 영역] 시사/경제/산업 심층 분석, 투자 실사, 기술 브리핑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차세대 자율 심층 리서치 AI 플랫폼 구축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시스템 아키텍처: 2-Agent 분리 거버넌스 &amp; Human-in-the-Loop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Dynamic Research AI Platform Proposal  |  Confidential  |  5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502920"/>
          </a:xfrm>
          <a:prstGeom prst="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2563EB"/>
                </a:solidFill>
              </a:defRPr>
            </a:pPr>
            <a:r>
              <a:t>인간의 판단이 개입되는 '기획 영역(HITL)'과 완전 자동화되는 '자율 리서치 영역'을 독립 LangGraph로 분리 구축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4892040" cy="4251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4348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STAGE 1. 기획 &amp; 목차 확정 (TopicOutlineGraph)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AI 핫 토픽 추천 &amp; A/B/C/D 다각도 목차 제안 (Human-in-the-Loop)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1. 실시간 뉴스 스캔: Google News RSS 1초 100건 헤드라인 수집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2. LLM 트렌드 클러스터링: 작성 가치가 높은 핫 토픽 Top 5 자동 추천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3. 다각도 목차 생성: 독자 관점별 4대 목차(A/B/C/D)와 핵심 질문 기획</a:t>
            </a:r>
            <a:br/>
            <a:r>
              <a:t>   - A안: 산업/투자자  |  B안: 기술/엔지니어링</a:t>
            </a:r>
            <a:br/>
            <a:r>
              <a:t>   - C안: 경쟁사 벤치마크  |  D안: 리스크/규제 실사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4. Human Review (HITL): 사용자가 터미널 또는 웹 UI에서 선택·수정·승인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▶ 인터페이스 표준 규격: approved_outline.json 자동 저장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715000" y="3749039"/>
            <a:ext cx="640080" cy="45720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6520" y="2011680"/>
            <a:ext cx="5010912" cy="4251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553712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STAGE 2. 자율 심층 리서치 (DLSResearchGraph)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동적 쿼리 분해 · 듀얼 수집 · Self-Reflection · 번들 조립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1. 3대 전략 쿼리 분해: 국내 팩트 + 해외 테크 + 기업 IR + 편향방지 쿼리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2. 듀얼 뉴스 병렬 수집: DuckDuckGo News + Google RSS 교차 병합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3. 원문 크롤링 &amp; 정제: Trafilatura / Jina Reader로 순수 본문 파싱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4. 자율 반성 (Self-Reflection): 팩트 충분성 검증 및 부족 시 자동 재검색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5. 다각화 리포트 번들 합성: OpenCode Muse Spark 기반 4종 동시 생성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▶ 최종 패키징: output/bundles/ (경영진용/기술용/벤치마크/리스크)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차세대 자율 심층 리서치 AI 플랫폼 구축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핵심 차별화 기술 역량 (4 Key Differentiating Features)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Dynamic Research AI Platform Proposal  |  Confidential  |  6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1206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73352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01. 뉴스 전용 듀얼 수집기 (Dual News Collector)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▶ 1초 만에 100건 무료·무차단 수집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4663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Google News RSS (site:hankyung.com 등 언론사 타겟) + DuckDuckGo News 병렬 실행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봇 탐지(403 Forbidden)를 원천 우회하는 RSS 프로토콜 활용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신뢰도 높은 제도권 언론사 1차 보도 위주 인터리빙(Interleaving) 교차 병합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9535" y="1508760"/>
            <a:ext cx="51206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8135" y="1673352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02. 순수 본문 마크다운 추출기 (Trafilatura + Jina)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▶ 광고·CSS 배제 노이즈 제로 크롤링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8135" y="2286000"/>
            <a:ext cx="4663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웹페이지 내 배너, 메뉴, 광고를 완벽히 제거하고 기사 본문 텍스트만 보존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로컬 파서 Trafilatura 우선 적용 + Cloud Jina Reader 백업의 2중 Fallback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토큰 낭비를 방지하고 LLM의 환각 발생 원인을 사전 차단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1206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42231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03. 100% 무료 LLM 탑재 (OpenCode Muse Spark)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▶ 토큰 비용 0원 운영 + 멀티 플러그인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754879"/>
            <a:ext cx="4663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Meta Muse Spark 1.3 무료 모델을 기본 엔진으로 채택하여 API 과금 완전 제로화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로컬 REST API 자동 감지 포트 바인딩 및 CLI Fallback 무중단 아키텍처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플러그인 어댑터 지원: Google Gemini, Groq (Llama 3.3 70B), Local Ollama 자유 전환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9535" y="3977639"/>
            <a:ext cx="51206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8135" y="4142231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5CF6"/>
                </a:solidFill>
              </a:defRPr>
            </a:pPr>
            <a:r>
              <a:t>04. 자율 반성 (Self-Reflection) &amp; 편향 방지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▶ 비판 쿼리 강제 + 자동 재검색 루프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8135" y="4754879"/>
            <a:ext cx="4663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찬양 일색 보도 방지를 위한 비판/리스크/수율 한계 쿼리 강제 생성 메커니즘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에이전트가 수집 데이터의 팩트 충분성을 스스로 채점하여 부족 시 추가 검색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팩트(Fact)와 에이전트 해석(Analysis), 미확인 주장(Unverified) 명확 분리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차세대 자율 심층 리서치 AI 플랫폼 구축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주요 산출물: 다각화 전문 보고서 패키지 (Multi-Tier Report Bundle)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Dynamic Research AI Platform Proposal  |  Confidential  |  7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28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2563EB"/>
                </a:solidFill>
              </a:defRPr>
            </a:pPr>
            <a:r>
              <a:t>※ 1회의 DLS 리서치 결과로부터 직무별 독자 니즈에 맞춘 4종의 보고서를 원클릭 일괄 자동 파생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2450592" cy="4343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57399"/>
            <a:ext cx="212140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REPORT 01</a:t>
            </a:r>
          </a:p>
          <a:p>
            <a:pPr>
              <a:spcBef>
                <a:spcPts val="200"/>
              </a:spcBef>
              <a:defRPr sz="1500" b="1">
                <a:solidFill>
                  <a:srgbClr val="1E293B"/>
                </a:solidFill>
              </a:defRPr>
            </a:pPr>
            <a:r>
              <a:t>경영진 전략 브리프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Executive 1-Pager</a:t>
            </a:r>
          </a:p>
          <a:p>
            <a:pPr>
              <a:spcBef>
                <a:spcPts val="600"/>
              </a:spcBef>
              <a:defRPr sz="1050">
                <a:solidFill>
                  <a:srgbClr val="2563EB"/>
                </a:solidFill>
              </a:defRPr>
            </a:pPr>
            <a:r>
              <a:t>• 독자: C-Level · 임원진 · 의사결정자</a:t>
            </a:r>
            <a:br/>
            <a:r>
              <a:t>• 분량: A4 1~2페이지 (3분 완독)</a:t>
            </a:r>
          </a:p>
          <a:p>
            <a:pPr>
              <a:lnSpc>
                <a:spcPct val="120000"/>
              </a:lnSpc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3줄 핵심 결론 (TL;DR)</a:t>
            </a:r>
          </a:p>
          <a:p>
            <a:pPr>
              <a:lnSpc>
                <a:spcPct val="120000"/>
              </a:lnSpc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핵심 정량 KPI 카드 3~4개</a:t>
            </a:r>
          </a:p>
          <a:p>
            <a:pPr>
              <a:lnSpc>
                <a:spcPct val="120000"/>
              </a:lnSpc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경영 및 공급망 전략 시사점</a:t>
            </a:r>
          </a:p>
          <a:p>
            <a:pPr>
              <a:lnSpc>
                <a:spcPct val="120000"/>
              </a:lnSpc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즉시 실행 과제 (Action Items)</a:t>
            </a:r>
          </a:p>
          <a:p>
            <a:pPr>
              <a:lnSpc>
                <a:spcPct val="120000"/>
              </a:lnSpc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의사결정 신속성 극대화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3863" y="1874519"/>
            <a:ext cx="2450592" cy="4343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5" y="2057399"/>
            <a:ext cx="212140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REPORT 02</a:t>
            </a:r>
          </a:p>
          <a:p>
            <a:pPr>
              <a:spcBef>
                <a:spcPts val="200"/>
              </a:spcBef>
              <a:defRPr sz="1500" b="1">
                <a:solidFill>
                  <a:srgbClr val="1E293B"/>
                </a:solidFill>
              </a:defRPr>
            </a:pPr>
            <a:r>
              <a:t>심층 기술·산업 보고서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Technical Deep-Dive</a:t>
            </a:r>
          </a:p>
          <a:p>
            <a:pPr>
              <a:spcBef>
                <a:spcPts val="600"/>
              </a:spcBef>
              <a:defRPr sz="1050">
                <a:solidFill>
                  <a:srgbClr val="2563EB"/>
                </a:solidFill>
              </a:defRPr>
            </a:pPr>
            <a:r>
              <a:t>• 독자: R&amp;D 연구원 · 수석 애널리스트</a:t>
            </a:r>
            <a:br/>
            <a:r>
              <a:t>• 분량: 10~20페이지 (정밀 분석)</a:t>
            </a:r>
          </a:p>
          <a:p>
            <a:pPr>
              <a:lnSpc>
                <a:spcPct val="120000"/>
              </a:lnSpc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질문 정의 및 산업 배경</a:t>
            </a:r>
          </a:p>
          <a:p>
            <a:pPr>
              <a:lnSpc>
                <a:spcPct val="120000"/>
              </a:lnSpc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문장별 1:1 인라인 각주 ([^1])</a:t>
            </a:r>
          </a:p>
          <a:p>
            <a:pPr>
              <a:lnSpc>
                <a:spcPct val="120000"/>
              </a:lnSpc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아키텍처 및 공정 상세 분석</a:t>
            </a:r>
          </a:p>
          <a:p>
            <a:pPr>
              <a:lnSpc>
                <a:spcPct val="120000"/>
              </a:lnSpc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팩트(Fact) vs 해석(Analysis) 분리</a:t>
            </a:r>
          </a:p>
          <a:p>
            <a:pPr>
              <a:lnSpc>
                <a:spcPct val="120000"/>
              </a:lnSpc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전수 원문 URL 아카이빙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1874519"/>
            <a:ext cx="2450592" cy="4343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799" y="2057399"/>
            <a:ext cx="212140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REPORT 03</a:t>
            </a:r>
          </a:p>
          <a:p>
            <a:pPr>
              <a:spcBef>
                <a:spcPts val="200"/>
              </a:spcBef>
              <a:defRPr sz="1500" b="1">
                <a:solidFill>
                  <a:srgbClr val="1E293B"/>
                </a:solidFill>
              </a:defRPr>
            </a:pPr>
            <a:r>
              <a:t>경쟁사 벤치마크 매트릭스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Benchmark Matrix</a:t>
            </a:r>
          </a:p>
          <a:p>
            <a:pPr>
              <a:spcBef>
                <a:spcPts val="600"/>
              </a:spcBef>
              <a:defRPr sz="1050">
                <a:solidFill>
                  <a:srgbClr val="2563EB"/>
                </a:solidFill>
              </a:defRPr>
            </a:pPr>
            <a:r>
              <a:t>• 독자: 사업기획 · 전략 · 구매팀</a:t>
            </a:r>
            <a:br/>
            <a:r>
              <a:t>• 분량: 3~5페이지 (표 중심)</a:t>
            </a:r>
          </a:p>
          <a:p>
            <a:pPr>
              <a:lnSpc>
                <a:spcPct val="120000"/>
              </a:lnSpc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4대 축 비교 매트릭스 표</a:t>
            </a:r>
            <a:br/>
            <a:r>
              <a:t>  (스펙, 생산 Capa, 수율, 가격)</a:t>
            </a:r>
          </a:p>
          <a:p>
            <a:pPr>
              <a:lnSpc>
                <a:spcPct val="120000"/>
              </a:lnSpc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기업별 경쟁 우위 / 열위 분석</a:t>
            </a:r>
          </a:p>
          <a:p>
            <a:pPr>
              <a:lnSpc>
                <a:spcPct val="120000"/>
              </a:lnSpc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시장 점유율 재편 시나리오</a:t>
            </a:r>
          </a:p>
          <a:p>
            <a:pPr>
              <a:lnSpc>
                <a:spcPct val="120000"/>
              </a:lnSpc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정량 수치 중심 다자간 대조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8552" y="1874519"/>
            <a:ext cx="2450592" cy="4343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53144" y="2057399"/>
            <a:ext cx="212140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REPORT 04</a:t>
            </a:r>
          </a:p>
          <a:p>
            <a:pPr>
              <a:spcBef>
                <a:spcPts val="200"/>
              </a:spcBef>
              <a:defRPr sz="1500" b="1">
                <a:solidFill>
                  <a:srgbClr val="1E293B"/>
                </a:solidFill>
              </a:defRPr>
            </a:pPr>
            <a:r>
              <a:t>리스크 실사 체크리스트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Risk &amp; Due-Diligence</a:t>
            </a:r>
          </a:p>
          <a:p>
            <a:pPr>
              <a:spcBef>
                <a:spcPts val="600"/>
              </a:spcBef>
              <a:defRPr sz="1050">
                <a:solidFill>
                  <a:srgbClr val="2563EB"/>
                </a:solidFill>
              </a:defRPr>
            </a:pPr>
            <a:r>
              <a:t>• 독자: 리스크 관리 · 투자 심사역</a:t>
            </a:r>
            <a:br/>
            <a:r>
              <a:t>• 분량: 2~4페이지 (검증 과제)</a:t>
            </a:r>
          </a:p>
          <a:p>
            <a:pPr>
              <a:lnSpc>
                <a:spcPct val="120000"/>
              </a:lnSpc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상충 보도 및 정보 신뢰도 평가</a:t>
            </a:r>
          </a:p>
          <a:p>
            <a:pPr>
              <a:lnSpc>
                <a:spcPct val="120000"/>
              </a:lnSpc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미확인 루머 vs 확인 팩트 분리 표</a:t>
            </a:r>
          </a:p>
          <a:p>
            <a:pPr>
              <a:lnSpc>
                <a:spcPct val="120000"/>
              </a:lnSpc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퀄테스트 / 양산 병목 마일스톤</a:t>
            </a:r>
          </a:p>
          <a:p>
            <a:pPr>
              <a:lnSpc>
                <a:spcPct val="120000"/>
              </a:lnSpc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추가 모니터링 질문 리스트</a:t>
            </a:r>
          </a:p>
          <a:p>
            <a:pPr>
              <a:lnSpc>
                <a:spcPct val="120000"/>
              </a:lnSpc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투자 및 도입 리스크 사전 방지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차세대 자율 심층 리서치 AI 플랫폼 구축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웹 화면 ①: AI 토픽 발굴 &amp; 인터랙티브 목차 승인기 (HITL UI)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Dynamic Research AI Platform Proposal  |  Confidential  |  8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64922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49224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1636776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636776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98448" y="1636776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737360" y="1563624"/>
            <a:ext cx="384048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🔒 http://localhost:8501  (DLS Deep Research Studio)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892808"/>
            <a:ext cx="64922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  💡 1. 토픽 발굴    🚀 2. DLS 리서치    📑 3. 리포트 열람    📊 4. 벤치마크    💎 5. 스마트 분석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1929384"/>
            <a:ext cx="173736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✓ 1. 토픽 발굴 &amp; 목차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240280"/>
            <a:ext cx="1691640" cy="3931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defRPr sz="950">
                <a:solidFill>
                  <a:srgbClr val="1E293B"/>
                </a:solidFill>
              </a:defRPr>
            </a:pPr>
            <a:r>
              <a:t>⚙️ 엔진 설정</a:t>
            </a:r>
            <a:br/>
            <a:r>
              <a:t>• LLM: OpenCode Muse Spark</a:t>
            </a:r>
            <a:br/>
            <a:r>
              <a:t>  (토큰 비용 0원 🟢)</a:t>
            </a:r>
            <a:br/>
            <a:r>
              <a:t>• 데이터 엔진: LlamaIndex</a:t>
            </a:r>
            <a:br/>
            <a:r>
              <a:t>• 수집 Depth: 4개 원문</a:t>
            </a:r>
            <a:br/>
            <a:br/>
            <a:r>
              <a:t>📡 파이프라인</a:t>
            </a:r>
            <a:br/>
            <a:r>
              <a:t>• DuckDuckGo + Google RSS</a:t>
            </a:r>
            <a:br/>
            <a:r>
              <a:t>• Trafilatura 순수 파서</a:t>
            </a:r>
            <a:br/>
            <a:r>
              <a:t>• 인라인 각주 [^1] 매핑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32888" y="2304288"/>
            <a:ext cx="4581144" cy="43891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1E293B"/>
                </a:solidFill>
              </a:defRPr>
            </a:pPr>
            <a:r>
              <a:t>🔍 트렌드 탐색 키워드: [ 반도체 OR AI OR 에이전트 OR 빅테크 ]  [최신 뉴스 스캔]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32888" y="2807208"/>
            <a:ext cx="4581144" cy="32004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🟢 실시간 뉴스 12건 분석 기반 5대 추천 토픽 자동 갱신 완료!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32888" y="3200400"/>
            <a:ext cx="4581144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선택된 토픽: SK하이닉스 M15X 팹 증설 및 차세대 HBM4 로드맵 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32888" y="3657600"/>
            <a:ext cx="223570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🅰️ 산업/비즈니스 관점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HBM4 시장 점유율 재편</a:t>
            </a:r>
            <a:br/>
            <a:r>
              <a:t>• 엔비디아 루빈 납품 계약 일정</a:t>
            </a:r>
            <a:br/>
            <a:r>
              <a:t>• M15X 팹 5.3조원 CAPEX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78324" y="3657600"/>
            <a:ext cx="223570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EA5E9"/>
                </a:solidFill>
              </a:defRPr>
            </a:pPr>
            <a:r>
              <a:t>🅱️ 기술/공정 엔지니어링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1c D램 미세공정 전환</a:t>
            </a:r>
            <a:br/>
            <a:r>
              <a:t>• TSV 16단 적층 본딩 수율</a:t>
            </a:r>
            <a:br/>
            <a:r>
              <a:t>• TSMC 베이스다이 파운드리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32888" y="4800600"/>
            <a:ext cx="223570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🅲 경쟁 구도/생태계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삼성전자 턴키 전략과 비교</a:t>
            </a:r>
            <a:br/>
            <a:r>
              <a:t>• 마이크론 12단 추격 속도</a:t>
            </a:r>
            <a:br/>
            <a:r>
              <a:t>• 패키징 소부장 공급망 분석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78324" y="4800600"/>
            <a:ext cx="223570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🅳 리스크/투자 실사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퀄테스트 지연 가능성 진단</a:t>
            </a:r>
            <a:br/>
            <a:r>
              <a:t>• 투자 회수 마일스톤 점검</a:t>
            </a:r>
            <a:br/>
            <a:r>
              <a:t>• 미확인 루머 검증 체크리스트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32888" y="5824728"/>
            <a:ext cx="4581144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💾 🅱️안 기술/공정 목차 최종 승인 및 latest_approved_outline.json 저장 (HITL)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79792" y="1508760"/>
            <a:ext cx="3977639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화면 주요 기능 및 인터랙션 워크플로우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1. 실시간 뉴스 스캔 &amp; 자동 클러스터링</a:t>
            </a:r>
          </a:p>
          <a:p>
            <a:pPr>
              <a:lnSpc>
                <a:spcPct val="125000"/>
              </a:lnSpc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구글 뉴스 RSS를 백그라운드에서 실시간 스캔하여, 오늘자 산업계에서 가장 파급력이 큰 5대 핫 토픽을 AI가 선제적으로 발굴·제안합니다.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2. 다각도 4대 관점(A/B/C/D) 목차 기획</a:t>
            </a:r>
          </a:p>
          <a:p>
            <a:pPr>
              <a:lnSpc>
                <a:spcPct val="125000"/>
              </a:lnSpc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동일한 주제라도 비즈니스/기술/경쟁사/리스크 등 독자 관점에 따라 차별화된 4개 후보 목차와 타겟 질문을 자동 수립합니다.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3. Human-in-the-Loop (인간 최종 승인)</a:t>
            </a:r>
          </a:p>
          <a:p>
            <a:pPr>
              <a:lnSpc>
                <a:spcPct val="125000"/>
              </a:lnSpc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사람이 직접 원하는 안(A/B/C/D)을 선택하거나 인라인 텍스트 편집기에서 질문을 수정한 뒤 승인하여, 리서치가 '산으로 가는' 문제를 원천 방지합니다.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4. 규격화된 핸드오프 (JSON 규격)</a:t>
            </a:r>
          </a:p>
          <a:p>
            <a:pPr>
              <a:lnSpc>
                <a:spcPct val="125000"/>
              </a:lnSpc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승인된 아웃라인은 `latest_approved_outline.json`으로 저장되어 DLS 자율 리서치 엔진에 정확한 조사 지침으로 전달됩니다.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차세대 자율 심층 리서치 AI 플랫폼 구축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웹 화면 ②: DLS 심층 리서치 콘솔 &amp; 실시간 진행 모니터링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Dynamic Research AI Platform Proposal  |  Confidential  |  9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64922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49224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1636776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636776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98448" y="1636776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737360" y="1563624"/>
            <a:ext cx="384048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🔒 http://localhost:8501  (DLS Deep Research Studio)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892808"/>
            <a:ext cx="64922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  💡 1. 토픽 발굴    🚀 2. DLS 리서치    📑 3. 리포트 열람    📊 4. 벤치마크    💎 5. 스마트 분석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1929384"/>
            <a:ext cx="173736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✓ 2. DLS 리서치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240280"/>
            <a:ext cx="1691640" cy="3931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defRPr sz="950">
                <a:solidFill>
                  <a:srgbClr val="1E293B"/>
                </a:solidFill>
              </a:defRPr>
            </a:pPr>
            <a:r>
              <a:t>⚙️ 엔진 설정</a:t>
            </a:r>
            <a:br/>
            <a:r>
              <a:t>• LLM: OpenCode Muse Spark</a:t>
            </a:r>
            <a:br/>
            <a:r>
              <a:t>  (토큰 비용 0원 🟢)</a:t>
            </a:r>
            <a:br/>
            <a:r>
              <a:t>• 데이터 엔진: LlamaIndex</a:t>
            </a:r>
            <a:br/>
            <a:r>
              <a:t>• 수집 Depth: 4개 원문</a:t>
            </a:r>
            <a:br/>
            <a:br/>
            <a:r>
              <a:t>📡 파이프라인</a:t>
            </a:r>
            <a:br/>
            <a:r>
              <a:t>• DuckDuckGo + Google RSS</a:t>
            </a:r>
            <a:br/>
            <a:r>
              <a:t>• Trafilatura 순수 파서</a:t>
            </a:r>
            <a:br/>
            <a:r>
              <a:t>• 인라인 각주 [^1] 매핑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32888" y="2304288"/>
            <a:ext cx="4581144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📑 승인 목차 자동 연동: '기술 사양 및 엔지니어링/수율 관점' (4개 섹션)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32888" y="2743200"/>
            <a:ext cx="4581144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293B"/>
                </a:solidFill>
              </a:defRPr>
            </a:pPr>
            <a:r>
              <a:t>실행 엔진: (•) 🌟 LangGraph DLS 자율 심층 에이전트  ( ) ⚡ DLS 고속 리서치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※ 각 섹션마다 검색 ➔ 스크랩 ➔ 반추(Reflection) 루프를 돌며 고밀도 리포트 자율 합성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32888" y="3355848"/>
            <a:ext cx="4581144" cy="23317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🔍 [LangGraph Stage 2] DLS 자율 심층 에이전트 실행 로그</a:t>
            </a:r>
          </a:p>
          <a:p>
            <a:pPr>
              <a:spcBef>
                <a:spcPts val="300"/>
              </a:spcBef>
              <a:defRPr sz="850">
                <a:solidFill>
                  <a:srgbClr val="E2E8F0"/>
                </a:solidFill>
              </a:defRPr>
            </a:pPr>
            <a:r>
              <a:t>✓ [STAGE 2-1] 3대 전략 검색 쿼리 분해 (국내 팩트, 해외 테크, 기업 IR 완료)</a:t>
            </a:r>
          </a:p>
          <a:p>
            <a:pPr>
              <a:spcBef>
                <a:spcPts val="300"/>
              </a:spcBef>
              <a:defRPr sz="850">
                <a:solidFill>
                  <a:srgbClr val="E2E8F0"/>
                </a:solidFill>
              </a:defRPr>
            </a:pPr>
            <a:r>
              <a:t>✓ [STAGE 2-2] 듀얼 뉴스 병렬 수집 (DuckDuckGo News + Google RSS 12건)</a:t>
            </a:r>
          </a:p>
          <a:p>
            <a:pPr>
              <a:spcBef>
                <a:spcPts val="300"/>
              </a:spcBef>
              <a:defRPr sz="850">
                <a:solidFill>
                  <a:srgbClr val="E2E8F0"/>
                </a:solidFill>
              </a:defRPr>
            </a:pPr>
            <a:r>
              <a:t>✓ [STAGE 2-3] Trafilatura 원문 본문 파싱 완료 (광고·CSS 배제, 14,800토큰)</a:t>
            </a:r>
          </a:p>
          <a:p>
            <a:pPr>
              <a:spcBef>
                <a:spcPts val="300"/>
              </a:spcBef>
              <a:defRPr sz="850">
                <a:solidFill>
                  <a:srgbClr val="E2E8F0"/>
                </a:solidFill>
              </a:defRPr>
            </a:pPr>
            <a:r>
              <a:t>▶ [STAGE 2-4] 섹션 2/4 반추: '1c D램 TSV 16단 적층 수율' (Reflection 2회 통과)</a:t>
            </a:r>
          </a:p>
          <a:p>
            <a:pPr>
              <a:spcBef>
                <a:spcPts val="300"/>
              </a:spcBef>
              <a:defRPr sz="850">
                <a:solidFill>
                  <a:srgbClr val="E2E8F0"/>
                </a:solidFill>
              </a:defRPr>
            </a:pPr>
            <a:r>
              <a:t>✓ [STAGE 2-5] OpenCode Muse Spark 심층 합성 (팩트 + 해석 + 각주 [^1]~[^18])</a:t>
            </a:r>
          </a:p>
          <a:p>
            <a:pPr>
              <a:spcBef>
                <a:spcPts val="300"/>
              </a:spcBef>
              <a:defRPr sz="850">
                <a:solidFill>
                  <a:srgbClr val="10B981"/>
                </a:solidFill>
              </a:defRPr>
            </a:pPr>
            <a:r>
              <a:t>✅ 최종 번들 패키징 완료: output/bundles/bundle_SK하이닉스_HBM4_20261006/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32888" y="5824728"/>
            <a:ext cx="2235708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293B"/>
                </a:solidFill>
              </a:defRPr>
            </a:pPr>
            <a:r>
              <a:t>📥 원본 마크다운 리포트 다운로드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78324" y="5824728"/>
            <a:ext cx="2235708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📦 4대 보고서 번들 ZIP 다운로드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9792" y="1508760"/>
            <a:ext cx="3977639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실시간 실행 및 상태 모니터링 강점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1. 원클릭 승인 목차 자동 바인딩</a:t>
            </a:r>
          </a:p>
          <a:p>
            <a:pPr>
              <a:lnSpc>
                <a:spcPct val="125000"/>
              </a:lnSpc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1번 탭에서 승인된 아웃라인을 자동으로 읽어와, 사용자가 재입력할 필요 없이 즉시 최적화된 리서치를 가동합니다.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2. 섹션별 자율 탐색 및 Self-Reflection</a:t>
            </a:r>
          </a:p>
          <a:p>
            <a:pPr>
              <a:lnSpc>
                <a:spcPct val="125000"/>
              </a:lnSpc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LangGraph 상태 머신이 목차 내 모든 섹션을 독립 탐색하며, 데이터 신뢰도가 미흡할 경우 최대 3회까지 자율 재검색을 수행합니다.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3. 실시간 터미널 진행 상황 시각화</a:t>
            </a:r>
          </a:p>
          <a:p>
            <a:pPr>
              <a:lnSpc>
                <a:spcPct val="125000"/>
              </a:lnSpc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웹 화면 내 상태 콘솔을 통해 쿼리 분해, 크롤링, Reflection 루프, 각주 결합 과정을 투명하게 실시간 확인할 수 있습니다.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4. 패키지 자동 번들링 &amp; 원클릭 다운로드</a:t>
            </a:r>
          </a:p>
          <a:p>
            <a:pPr>
              <a:lnSpc>
                <a:spcPct val="125000"/>
              </a:lnSpc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리서치가 완료되면 단일 마크다운뿐만 아니라 4종 전문 보고서 번들이 포함된 ZIP 파일을 즉시 원클릭으로 내려받을 수 있습니다.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차세대 자율 심층 리서치 AI 플랫폼 구축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웹 화면 ③: 완성된 리포트 열람실 &amp; 5종 번들 뷰어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Dynamic Research AI Platform Proposal  |  Confidential  |  10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64922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49224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1636776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636776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98448" y="1636776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737360" y="1563624"/>
            <a:ext cx="384048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🔒 http://localhost:8501  (DLS Deep Research Studio)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892808"/>
            <a:ext cx="64922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  💡 1. 토픽 발굴    🚀 2. DLS 리서치    📑 3. 리포트 열람    📊 4. 벤치마크    💎 5. 스마트 분석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1929384"/>
            <a:ext cx="173736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✓ 3. 리포트 열람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240280"/>
            <a:ext cx="1691640" cy="3931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defRPr sz="950">
                <a:solidFill>
                  <a:srgbClr val="1E293B"/>
                </a:solidFill>
              </a:defRPr>
            </a:pPr>
            <a:r>
              <a:t>⚙️ 엔진 설정</a:t>
            </a:r>
            <a:br/>
            <a:r>
              <a:t>• LLM: OpenCode Muse Spark</a:t>
            </a:r>
            <a:br/>
            <a:r>
              <a:t>  (토큰 비용 0원 🟢)</a:t>
            </a:r>
            <a:br/>
            <a:r>
              <a:t>• 데이터 엔진: LlamaIndex</a:t>
            </a:r>
            <a:br/>
            <a:r>
              <a:t>• 수집 Depth: 4개 원문</a:t>
            </a:r>
            <a:br/>
            <a:br/>
            <a:r>
              <a:t>📡 파이프라인</a:t>
            </a:r>
            <a:br/>
            <a:r>
              <a:t>• DuckDuckGo + Google RSS</a:t>
            </a:r>
            <a:br/>
            <a:r>
              <a:t>• Trafilatura 순수 파서</a:t>
            </a:r>
            <a:br/>
            <a:r>
              <a:t>• 인라인 각주 [^1] 매핑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32888" y="2304288"/>
            <a:ext cx="4581144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293B"/>
                </a:solidFill>
              </a:defRPr>
            </a:pPr>
            <a:r>
              <a:t>선택된 번들: 📦 SK하이닉스 HBM4 전략 (2026-10-06 14:27) ▼   [ZIP 다운로드]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32888" y="2779776"/>
            <a:ext cx="4581144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👔 1. 전략 1-Pager (선택) | 🔬 2. 기술 심층 | 📊 3. 벤치마크 | ⚠️ 4. 리스크 | 📰 5. 한경 기사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32888" y="3182112"/>
            <a:ext cx="4581144" cy="2999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👔 [경영진 전략 1-Pager] SK하이닉스 차세대 HBM4 양산 로드맵 및 공급망 전략</a:t>
            </a:r>
          </a:p>
          <a:p>
            <a:pPr>
              <a:spcBef>
                <a:spcPts val="200"/>
              </a:spcBef>
              <a:defRPr sz="900" b="1">
                <a:solidFill>
                  <a:srgbClr val="2563EB"/>
                </a:solidFill>
              </a:defRPr>
            </a:pPr>
            <a:r>
              <a:t>■ 3줄 핵심 결론 (TL;DR):</a:t>
            </a:r>
          </a:p>
          <a:p>
            <a:pPr>
              <a:spcBef>
                <a:spcPts val="200"/>
              </a:spcBef>
              <a:defRPr sz="900" b="0">
                <a:solidFill>
                  <a:srgbClr val="1E293B"/>
                </a:solidFill>
              </a:defRPr>
            </a:pPr>
            <a:r>
              <a:t>  1. 2026년 상반기 조기 양산 체제 돌입으로 차세대 엔비디아 루빈 독점적 지위 수성 [^1]</a:t>
            </a:r>
          </a:p>
          <a:p>
            <a:pPr>
              <a:spcBef>
                <a:spcPts val="200"/>
              </a:spcBef>
              <a:defRPr sz="900" b="0">
                <a:solidFill>
                  <a:srgbClr val="1E293B"/>
                </a:solidFill>
              </a:defRPr>
            </a:pPr>
            <a:r>
              <a:t>  2. M15X 청주 팹 5.3조원 투자 확정으로 월 8만 장 규모의 추가 생산 능력 확보 [^3]</a:t>
            </a:r>
          </a:p>
          <a:p>
            <a:pPr>
              <a:spcBef>
                <a:spcPts val="200"/>
              </a:spcBef>
              <a:defRPr sz="900" b="0">
                <a:solidFill>
                  <a:srgbClr val="1E293B"/>
                </a:solidFill>
              </a:defRPr>
            </a:pPr>
            <a:r>
              <a:t>  3. TSMC와의 베이스다이 파운드리 협력을 통한 전력 효율 20% 개선 선점 [^5]</a:t>
            </a:r>
          </a:p>
          <a:p>
            <a:pPr>
              <a:spcBef>
                <a:spcPts val="200"/>
              </a:spcBef>
              <a:defRPr sz="900" b="0">
                <a:solidFill>
                  <a:srgbClr val="1E293B"/>
                </a:solidFill>
              </a:defRPr>
            </a:pPr>
          </a:p>
          <a:p>
            <a:pPr>
              <a:spcBef>
                <a:spcPts val="200"/>
              </a:spcBef>
              <a:defRPr sz="900" b="1">
                <a:solidFill>
                  <a:srgbClr val="2563EB"/>
                </a:solidFill>
              </a:defRPr>
            </a:pPr>
            <a:r>
              <a:t>■ 핵심 KPI 정량 카드:</a:t>
            </a:r>
          </a:p>
          <a:p>
            <a:pPr>
              <a:spcBef>
                <a:spcPts val="200"/>
              </a:spcBef>
              <a:defRPr sz="900" b="0">
                <a:solidFill>
                  <a:srgbClr val="1E293B"/>
                </a:solidFill>
              </a:defRPr>
            </a:pPr>
            <a:r>
              <a:t>  • 목표 수율: 80% 달성  |  • 팹 증설 투자액: 5.3조원  |  • 글로벌 점유율: 52% 유지</a:t>
            </a:r>
          </a:p>
          <a:p>
            <a:pPr>
              <a:spcBef>
                <a:spcPts val="200"/>
              </a:spcBef>
              <a:defRPr sz="900" b="0">
                <a:solidFill>
                  <a:srgbClr val="1E293B"/>
                </a:solidFill>
              </a:defRPr>
            </a:pPr>
          </a:p>
          <a:p>
            <a:pPr>
              <a:spcBef>
                <a:spcPts val="200"/>
              </a:spcBef>
              <a:defRPr sz="900" b="1">
                <a:solidFill>
                  <a:srgbClr val="2563EB"/>
                </a:solidFill>
              </a:defRPr>
            </a:pPr>
            <a:r>
              <a:t>■ 즉시 실행 과제 (Action Items):</a:t>
            </a:r>
          </a:p>
          <a:p>
            <a:pPr>
              <a:spcBef>
                <a:spcPts val="200"/>
              </a:spcBef>
              <a:defRPr sz="900" b="0">
                <a:solidFill>
                  <a:srgbClr val="1E293B"/>
                </a:solidFill>
              </a:defRPr>
            </a:pPr>
            <a:r>
              <a:t>  • TSMC 3나노 베이스다이 공정 협력 MOU 체결 및 선행 물량 확보 [^7]</a:t>
            </a:r>
          </a:p>
          <a:p>
            <a:pPr>
              <a:spcBef>
                <a:spcPts val="200"/>
              </a:spcBef>
              <a:defRPr sz="900" b="0">
                <a:solidFill>
                  <a:srgbClr val="1E293B"/>
                </a:solidFill>
              </a:defRPr>
            </a:pPr>
            <a:r>
              <a:t>  • 16단 적층 Advanced MR-MUF 신규 본더 장비 조기 발주 완료 필요 [^10]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9792" y="1508760"/>
            <a:ext cx="3977639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다각화 번들 열람 및 배포의 편의성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1. 단일 세션 번들 셀렉터</a:t>
            </a:r>
          </a:p>
          <a:p>
            <a:pPr>
              <a:lnSpc>
                <a:spcPct val="125000"/>
              </a:lnSpc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과거 수행된 리서치 이력이 타임스탬프와 함께 자동 분류되어, 원하는 리서치 번들을 드롭다운에서 즉시 선택·열람할 수 있습니다.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2. 5대 전문 서브탭 원클릭 전환</a:t>
            </a:r>
          </a:p>
          <a:p>
            <a:pPr>
              <a:lnSpc>
                <a:spcPct val="125000"/>
              </a:lnSpc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하나의 화면 안에서 경영진용 1-Pager, 기술 상세서, 벤치마크 표, 리스크 실사서, 언론사 기사 포맷을 탭만 눌러 즉각 전환 비교합니다.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3. 전수 인라인 출처 각주 매핑</a:t>
            </a:r>
          </a:p>
          <a:p>
            <a:pPr>
              <a:lnSpc>
                <a:spcPct val="125000"/>
              </a:lnSpc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보고서 본문의 모든 문장에 번호 각주(`[^1]`)가 달려 있어, 클릭 한 번으로 원문 기사 링크 및 수집 언론사를 즉각 교차 검증할 수 있습니다.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4. 사내 배포 최적화 포맷</a:t>
            </a:r>
          </a:p>
          <a:p>
            <a:pPr>
              <a:lnSpc>
                <a:spcPct val="125000"/>
              </a:lnSpc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개별 마크다운 문서 다운로드뿐 아니라 전체 5종 번들이 압축된 ZIP 파일을 즉시 제공하여 슬랙, 사내 위키, 이메일로 즉시 공유 가능합니다.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차세대 자율 심층 리서치 AI 플랫폼 구축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웹 화면 ④: 스마트 리포트 분석실 &amp; 대화형 AI Q&amp;A 대시보드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Dynamic Research AI Platform Proposal  |  Confidential  |  11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64922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49224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1636776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636776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98448" y="1636776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737360" y="1563624"/>
            <a:ext cx="384048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🔒 http://localhost:8501  (DLS Deep Research Studio)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892808"/>
            <a:ext cx="64922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  💡 1. 토픽 발굴    🚀 2. DLS 리서치    📑 3. 리포트 열람    📊 4. 벤치마크    💎 5. 스마트 분석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1929384"/>
            <a:ext cx="173736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✓ 5. 스마트 분석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240280"/>
            <a:ext cx="1691640" cy="3931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defRPr sz="950">
                <a:solidFill>
                  <a:srgbClr val="1E293B"/>
                </a:solidFill>
              </a:defRPr>
            </a:pPr>
            <a:r>
              <a:t>⚙️ 엔진 설정</a:t>
            </a:r>
            <a:br/>
            <a:r>
              <a:t>• LLM: OpenCode Muse Spark</a:t>
            </a:r>
            <a:br/>
            <a:r>
              <a:t>  (토큰 비용 0원 🟢)</a:t>
            </a:r>
            <a:br/>
            <a:r>
              <a:t>• 데이터 엔진: LlamaIndex</a:t>
            </a:r>
            <a:br/>
            <a:r>
              <a:t>• 수집 Depth: 4개 원문</a:t>
            </a:r>
            <a:br/>
            <a:br/>
            <a:r>
              <a:t>📡 파이프라인</a:t>
            </a:r>
            <a:br/>
            <a:r>
              <a:t>• DuckDuckGo + Google RSS</a:t>
            </a:r>
            <a:br/>
            <a:r>
              <a:t>• Trafilatura 순수 파서</a:t>
            </a:r>
            <a:br/>
            <a:r>
              <a:t>• 인라인 각주 [^1] 매핑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32888" y="2304288"/>
            <a:ext cx="1466088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64748B"/>
                </a:solidFill>
              </a:defRPr>
            </a:pPr>
            <a:r>
              <a:t>총 팩트 문장</a:t>
            </a:r>
          </a:p>
          <a:p>
            <a:pPr>
              <a:defRPr sz="1400" b="1">
                <a:solidFill>
                  <a:srgbClr val="2563EB"/>
                </a:solidFill>
              </a:defRPr>
            </a:pPr>
            <a:r>
              <a:t>48 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90416" y="2304288"/>
            <a:ext cx="1466088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64748B"/>
                </a:solidFill>
              </a:defRPr>
            </a:pPr>
            <a:r>
              <a:t>인라인 각주 검증률</a:t>
            </a:r>
          </a:p>
          <a:p>
            <a:pPr>
              <a:defRPr sz="1400" b="1">
                <a:solidFill>
                  <a:srgbClr val="10B981"/>
                </a:solidFill>
              </a:defRPr>
            </a:pPr>
            <a:r>
              <a:t>100 %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47944" y="2304288"/>
            <a:ext cx="1466088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64748B"/>
                </a:solidFill>
              </a:defRPr>
            </a:pPr>
            <a:r>
              <a:t>수집 언론사 원문</a:t>
            </a:r>
          </a:p>
          <a:p>
            <a:pPr>
              <a:defRPr sz="1400" b="1">
                <a:solidFill>
                  <a:srgbClr val="0EA5E9"/>
                </a:solidFill>
              </a:defRPr>
            </a:pPr>
            <a:r>
              <a:t>16 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32888" y="3072384"/>
            <a:ext cx="4581144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563EB"/>
                </a:solidFill>
              </a:defRPr>
            </a:pPr>
            <a:r>
              <a:t>💬 리포트 기반 스마트 AI 어시스턴트 (Interactive Report Q&amp;A)</a:t>
            </a:r>
          </a:p>
          <a:p>
            <a:pPr>
              <a:spcBef>
                <a:spcPts val="500"/>
              </a:spcBef>
              <a:defRPr sz="950" b="1">
                <a:solidFill>
                  <a:srgbClr val="2563EB"/>
                </a:solidFill>
              </a:defRPr>
            </a:pPr>
            <a:r>
              <a:t>👤 [사용자 질의]</a:t>
            </a:r>
          </a:p>
          <a:p>
            <a:pPr>
              <a:lnSpc>
                <a:spcPct val="120000"/>
              </a:lnSpc>
              <a:spcBef>
                <a:spcPts val="100"/>
              </a:spcBef>
              <a:defRPr sz="900">
                <a:solidFill>
                  <a:srgbClr val="1E293B"/>
                </a:solidFill>
              </a:defRPr>
            </a:pPr>
            <a:r>
              <a:t>삼성전자 대비 SK하이닉스 HBM4 베이스다이 전략의 핵심 차이는 무엇인가요?</a:t>
            </a:r>
          </a:p>
          <a:p>
            <a:pPr>
              <a:spcBef>
                <a:spcPts val="500"/>
              </a:spcBef>
              <a:defRPr sz="950" b="1">
                <a:solidFill>
                  <a:srgbClr val="10B981"/>
                </a:solidFill>
              </a:defRPr>
            </a:pPr>
            <a:r>
              <a:t>🤖 [DLS 어시스턴트 답변]</a:t>
            </a:r>
          </a:p>
          <a:p>
            <a:pPr>
              <a:lnSpc>
                <a:spcPct val="120000"/>
              </a:lnSpc>
              <a:spcBef>
                <a:spcPts val="100"/>
              </a:spcBef>
              <a:defRPr sz="900">
                <a:solidFill>
                  <a:srgbClr val="1E293B"/>
                </a:solidFill>
              </a:defRPr>
            </a:pPr>
            <a:r>
              <a:t>SK하이닉스는 자체 팹 대신 TSMC 파운드리(3nm/5nm)를 채택하는 '글로벌 오픈 에코시스템'으로 전력 효율 20% 개선을 노립니다 [^3]. 반면 삼성전자는 메모리-파운드리-패키징 턴키 솔루션을 내세워 납기 단축을 강조하고 있습니다 [^8].</a:t>
            </a:r>
          </a:p>
          <a:p>
            <a:pPr>
              <a:spcBef>
                <a:spcPts val="500"/>
              </a:spcBef>
              <a:defRPr sz="950" b="1">
                <a:solidFill>
                  <a:srgbClr val="0EA5E9"/>
                </a:solidFill>
              </a:defRPr>
            </a:pPr>
            <a:r>
              <a:t>📌 [연계 출처 매핑]</a:t>
            </a:r>
          </a:p>
          <a:p>
            <a:pPr>
              <a:lnSpc>
                <a:spcPct val="120000"/>
              </a:lnSpc>
              <a:spcBef>
                <a:spcPts val="100"/>
              </a:spcBef>
              <a:defRPr sz="900">
                <a:solidFill>
                  <a:srgbClr val="1E293B"/>
                </a:solidFill>
              </a:defRPr>
            </a:pPr>
            <a:r>
              <a:t>• 출처 [3]: 전자신문 'TSMC-SK하이닉스 원팀 전략으로 엔비디아 납품 우위'</a:t>
            </a:r>
            <a:br/>
            <a:r>
              <a:t>• 출처 [8]: 한국경제 '삼성전자 차세대 HBM4 턴키 수주 승부수'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79792" y="1508760"/>
            <a:ext cx="3977639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보고서의 2차 활용 및 인텔리전스 자산화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1. 보고서 팩트 밀도 KPI 대시보드</a:t>
            </a:r>
          </a:p>
          <a:p>
            <a:pPr>
              <a:lnSpc>
                <a:spcPct val="125000"/>
              </a:lnSpc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생성된 리포트의 전체 팩트 수, 검증 완료 문장 수, 실제 참조된 언론사 출처 개수를 정량적 지표로 즉시 제시하여 신뢰도를 입증합니다.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2. 리포트 콘텍스트 기반 즉문즉답 (Q&amp;A)</a:t>
            </a:r>
          </a:p>
          <a:p>
            <a:pPr>
              <a:lnSpc>
                <a:spcPct val="125000"/>
              </a:lnSpc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수십 페이지의 리포트를 전부 읽지 않고도, 사용자가 궁금한 세부 사항(경쟁사 비교, 수율 차이 등)을 챗봇 인터페이스로 즉시 질문하고 답을 얻습니다.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3. 인라인 각주 출처 역추적 시스템</a:t>
            </a:r>
          </a:p>
          <a:p>
            <a:pPr>
              <a:lnSpc>
                <a:spcPct val="125000"/>
              </a:lnSpc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AI의 답변 역시 보고서 원문과 동일하게 번호 각주(`[^3]`, `[^8]`)를 함께 제시하여 근거 없는 답변(환각)을 완벽히 방지합니다.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4. 지속 가능한 전사 지식 베이스 연계</a:t>
            </a:r>
          </a:p>
          <a:p>
            <a:pPr>
              <a:lnSpc>
                <a:spcPct val="125000"/>
              </a:lnSpc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수집된 팩트와 검증 데이터는 일회성으로 소멸되지 않고 사내 질의응답 및 추가 분석의 신뢰할 수 있는 데이터 뱅크로 기능합니다.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차세대 자율 심층 리서치 AI 플랫폼 구축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기술 완성도 및 실증 검증 결과 (Validation &amp; Benchmarks)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Dynamic Research AI Platform Proposal  |  Confidential  |  12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28416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73352"/>
            <a:ext cx="296265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TEST SUITE COMPLIANCE</a:t>
            </a:r>
          </a:p>
          <a:p>
            <a:pPr>
              <a:spcBef>
                <a:spcPts val="200"/>
              </a:spcBef>
              <a:defRPr sz="2800" b="1">
                <a:solidFill>
                  <a:srgbClr val="1E293B"/>
                </a:solidFill>
              </a:defRPr>
            </a:pPr>
            <a:r>
              <a:t>13 / 13 통과</a:t>
            </a:r>
          </a:p>
          <a:p>
            <a:pPr>
              <a:spcBef>
                <a:spcPts val="200"/>
              </a:spcBef>
              <a:defRPr sz="1100" b="1">
                <a:solidFill>
                  <a:srgbClr val="1E293B"/>
                </a:solidFill>
              </a:defRPr>
            </a:pPr>
            <a:r>
              <a:t>pytest 단위 및 통합 파이프라인 전수 검증 (100% Pass)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Provider 어댑터, Trafilatura 파서, LangGraph 상태 전이, 토픽 그래프 무결성 확보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328416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73352"/>
            <a:ext cx="296265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REAL-WORLD GENERATION</a:t>
            </a:r>
          </a:p>
          <a:p>
            <a:pPr>
              <a:spcBef>
                <a:spcPts val="200"/>
              </a:spcBef>
              <a:defRPr sz="2800" b="1">
                <a:solidFill>
                  <a:srgbClr val="1E293B"/>
                </a:solidFill>
              </a:defRPr>
            </a:pPr>
            <a:r>
              <a:t>10+ 실전 리포트</a:t>
            </a:r>
          </a:p>
          <a:p>
            <a:pPr>
              <a:spcBef>
                <a:spcPts val="200"/>
              </a:spcBef>
              <a:defRPr sz="1100" b="1">
                <a:solidFill>
                  <a:srgbClr val="1E293B"/>
                </a:solidFill>
              </a:defRPr>
            </a:pPr>
            <a:r>
              <a:t>최신 반도체 / AI 산업 실제 리서치 보고서 산출 완료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HBM4 전략, 미세유체 냉각 기술, NVHBM 상용화, OpenAI Dots 에이전트 등 검증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08760"/>
            <a:ext cx="3328416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73352"/>
            <a:ext cx="296265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COLLECTION SPEED</a:t>
            </a:r>
          </a:p>
          <a:p>
            <a:pPr>
              <a:spcBef>
                <a:spcPts val="200"/>
              </a:spcBef>
              <a:defRPr sz="2800" b="1">
                <a:solidFill>
                  <a:srgbClr val="1E293B"/>
                </a:solidFill>
              </a:defRPr>
            </a:pPr>
            <a:r>
              <a:t>1.0 초 / 100 건</a:t>
            </a:r>
          </a:p>
          <a:p>
            <a:pPr>
              <a:spcBef>
                <a:spcPts val="200"/>
              </a:spcBef>
              <a:defRPr sz="1100" b="1">
                <a:solidFill>
                  <a:srgbClr val="1E293B"/>
                </a:solidFill>
              </a:defRPr>
            </a:pPr>
            <a:r>
              <a:t>Google News RSS 기반 실시간 뉴스 수집 속도 실측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봇 차단(403) 제로, 제도권 1차 기사 즉시 파싱 및 3개 전략 쿼리 교차 검증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10728655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271455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■ 멀티 LLM 엔진 실측 벤치마크 결과 비교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[OpenCode Meta Muse Spark (기본 채택)]: 토큰 비용 $0 (100% 무료) | 팩트 밀도 우수 | 각주 매핑 100% | 가성비 최고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[Google Gemini 2.5 Flash]: 초고속 응답 (~15초) | 광범위 콘텍스트 윈도우 | 대용량 기사 일괄 처리 최적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[Local M3 Max Ollama (Qwen 3.8 27B)]: 외부 유출 제로 (Air-Gapped 사내망 운영 가능) | 보안 등급 최우수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[듀얼 뉴스 병렬 수집 검증]: 단일 검색기 대비 유효 기사 수집량 240% 증가, 광고·스팸 링크 유입률 0%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[결론]: 오픈소스 무료 엔진으로 운영비 0원을 구현함과 동시에 상용 클라우드 LLM 수준의 심층성 확보 완료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차세대 자율 심층 리서치 AI 플랫폼 구축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단계별 추진 로드맵 및 실행 계획 (Phased Execution Roadmap)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Dynamic Research AI Platform Proposal  |  Confidential  |  13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PHASE 1 (완료)</a:t>
            </a:r>
          </a:p>
          <a:p>
            <a:pPr>
              <a:spcBef>
                <a:spcPts val="300"/>
              </a:spcBef>
              <a:defRPr sz="1600" b="1">
                <a:solidFill>
                  <a:srgbClr val="1E293B"/>
                </a:solidFill>
              </a:defRPr>
            </a:pPr>
            <a:r>
              <a:t>코어 DLS 엔진 및 2-Graph 구축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단위 기반 구축 완료</a:t>
            </a:r>
          </a:p>
          <a:p>
            <a:pPr>
              <a:lnSpc>
                <a:spcPct val="125000"/>
              </a:lnSpc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✓ DuckDuckGo + Google RSS 듀얼 수집기 구축</a:t>
            </a:r>
          </a:p>
          <a:p>
            <a:pPr>
              <a:lnSpc>
                <a:spcPct val="125000"/>
              </a:lnSpc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✓ Trafilatura / Jina 순수 본문 크롤링 모듈 완성</a:t>
            </a:r>
          </a:p>
          <a:p>
            <a:pPr>
              <a:lnSpc>
                <a:spcPct val="125000"/>
              </a:lnSpc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✓ OpenCode Muse Spark 무료 LLM 어댑터 탑재</a:t>
            </a:r>
          </a:p>
          <a:p>
            <a:pPr>
              <a:lnSpc>
                <a:spcPct val="125000"/>
              </a:lnSpc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✓ TopicOutlineGraph &amp; HITL CLI 인터랙터 연동</a:t>
            </a:r>
          </a:p>
          <a:p>
            <a:pPr>
              <a:lnSpc>
                <a:spcPct val="125000"/>
              </a:lnSpc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✓ Self-Reflection 자율 반성 및 팩트체크 루프</a:t>
            </a:r>
          </a:p>
          <a:p>
            <a:pPr>
              <a:lnSpc>
                <a:spcPct val="125000"/>
              </a:lnSpc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✓ pytest 13개 단위 및 통합 테스트 100% 통과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PHASE 2 (완료 및 안정화)</a:t>
            </a:r>
          </a:p>
          <a:p>
            <a:pPr>
              <a:spcBef>
                <a:spcPts val="300"/>
              </a:spcBef>
              <a:defRPr sz="1600" b="1">
                <a:solidFill>
                  <a:srgbClr val="1E293B"/>
                </a:solidFill>
              </a:defRPr>
            </a:pPr>
            <a:r>
              <a:t>다각화 번들 &amp; 스튜디오 UI 완성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패키징 및 시각화 고도화 완료</a:t>
            </a:r>
          </a:p>
          <a:p>
            <a:pPr>
              <a:lnSpc>
                <a:spcPct val="125000"/>
              </a:lnSpc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✓ 4대 맞춤형 번들 보고서 (Executive, Tech, Matrix, Risk) 자동 생성</a:t>
            </a:r>
          </a:p>
          <a:p>
            <a:pPr>
              <a:lnSpc>
                <a:spcPct val="125000"/>
              </a:lnSpc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✓ 한국경제 탐사보도 및 월가 리서치 저널리즘 포맷 지원</a:t>
            </a:r>
          </a:p>
          <a:p>
            <a:pPr>
              <a:lnSpc>
                <a:spcPct val="125000"/>
              </a:lnSpc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✓ Streamlit 기반 'DLS Deep Research Studio' 4대 탭 완성</a:t>
            </a:r>
          </a:p>
          <a:p>
            <a:pPr>
              <a:lnSpc>
                <a:spcPct val="125000"/>
              </a:lnSpc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✓ 원클릭 번들 ZIP 다운로드 및 실시간 진행률 표시</a:t>
            </a:r>
          </a:p>
          <a:p>
            <a:pPr>
              <a:lnSpc>
                <a:spcPct val="125000"/>
              </a:lnSpc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✓ 반도체/AI 시장 심층 실전 리포트 다수 생성 실증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0020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PHASE 3 (확장 제안 과제)</a:t>
            </a:r>
          </a:p>
          <a:p>
            <a:pPr>
              <a:spcBef>
                <a:spcPts val="300"/>
              </a:spcBef>
              <a:defRPr sz="1600" b="1">
                <a:solidFill>
                  <a:srgbClr val="1E293B"/>
                </a:solidFill>
              </a:defRPr>
            </a:pPr>
            <a:r>
              <a:t>엔터프라이즈 연동 및 모니터링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차기 고도화 계획 (4~8주)</a:t>
            </a:r>
          </a:p>
          <a:p>
            <a:pPr>
              <a:lnSpc>
                <a:spcPct val="125000"/>
              </a:lnSpc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▶ 사내 협업툴 연동: Slack 웹훅 알림 &amp; Notion 원클릭 자동 배포</a:t>
            </a:r>
          </a:p>
          <a:p>
            <a:pPr>
              <a:lnSpc>
                <a:spcPct val="125000"/>
              </a:lnSpc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▶ 공시 연동 팩트체커: DART/SEC 전자공시 API 실시간 대조</a:t>
            </a:r>
          </a:p>
          <a:p>
            <a:pPr>
              <a:lnSpc>
                <a:spcPct val="125000"/>
              </a:lnSpc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▶ 사내 ERP / KMS 연동: 과거 리서치 아카이브 전사 자산화</a:t>
            </a:r>
          </a:p>
          <a:p>
            <a:pPr>
              <a:lnSpc>
                <a:spcPct val="125000"/>
              </a:lnSpc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▶ 주기적 데일리 모니터링 데몬 스케줄러 기업 서버 탑재</a:t>
            </a:r>
          </a:p>
          <a:p>
            <a:pPr>
              <a:lnSpc>
                <a:spcPct val="125000"/>
              </a:lnSpc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▶ 멀티 유저 역할 기반 권한 제어 (RBAC) 및 보안 강화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005840"/>
            <a:ext cx="13716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344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PROPOSAL CONCLUSION &amp; EXPECTED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자율 리서치 AI 플랫폼 도입 기대 효과 종합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651760"/>
            <a:ext cx="31546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834640"/>
            <a:ext cx="2788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VALUE 01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리서치 생산성 18배 혁신</a:t>
            </a:r>
          </a:p>
          <a:p>
            <a:pPr>
              <a:lnSpc>
                <a:spcPct val="135000"/>
              </a:lnSpc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• 자료 수집부터 보고서 조립까지 72시간 ➔ 10분 단축</a:t>
            </a:r>
            <a:br/>
            <a:r>
              <a:t>• 단순 반복 작업 탈피로 기획자의 전략적 판단 시간 확보</a:t>
            </a:r>
            <a:br/>
            <a:r>
              <a:t>• 글로벌 이슈 발생 즉시 당일 심층 브리핑 제공 가능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2651760"/>
            <a:ext cx="31546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834640"/>
            <a:ext cx="2788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VALUE 02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도입·운영 비용 제로화</a:t>
            </a:r>
          </a:p>
          <a:p>
            <a:pPr>
              <a:lnSpc>
                <a:spcPct val="135000"/>
              </a:lnSpc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• 비싼 전용 벡터 DB 라이선스 및 클라우드 유지비 불필요</a:t>
            </a:r>
            <a:br/>
            <a:r>
              <a:t>• OpenCode Muse Spark 기본 탑재로 토큰 비용 $0 구현</a:t>
            </a:r>
            <a:br/>
            <a:r>
              <a:t>• 필요 시 상용 Cloud LLM 및 로컬 프라이빗 모델 유연 확장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651760"/>
            <a:ext cx="31546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2834640"/>
            <a:ext cx="2788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VALUE 03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의사결정 신뢰도 극대화</a:t>
            </a:r>
          </a:p>
          <a:p>
            <a:pPr>
              <a:lnSpc>
                <a:spcPct val="135000"/>
              </a:lnSpc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• 100% 인라인 각주 출처 매핑으로 팩트 검증 즉시 가능</a:t>
            </a:r>
            <a:br/>
            <a:r>
              <a:t>• 경영진 1-Pager, 기술 보고서, 경쟁사 표 동시 제공</a:t>
            </a:r>
            <a:br/>
            <a:r>
              <a:t>• 팩트와 AI 해석, 미확인 주장을 엄격히 분리하여 리스크 방지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5760720"/>
            <a:ext cx="10012680" cy="68580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“검증된 코어 엔진과 직관적인 스튜디오 UI를 바탕으로, 즉시 엔터프라이즈 파일럿 적용이 가능합니다.”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